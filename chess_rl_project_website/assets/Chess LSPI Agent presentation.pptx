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71ACD9-5C65-4592-8736-3A19E1E3ECE1}">
  <a:tblStyle styleId="{0B71ACD9-5C65-4592-8736-3A19E1E3EC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81c68dd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a81c68dd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a81c68dd0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a81c68dd0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a81c68dd0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a81c68dd0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NikolaosSopiadis/Chess_LSPI" TargetMode="External"/><Relationship Id="rId4" Type="http://schemas.openxmlformats.org/officeDocument/2006/relationships/hyperlink" Target="http://www.youtube.com/watch?v=bbvJzaoKJi0" TargetMode="External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 RL Agent with LSPI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Project </a:t>
            </a:r>
            <a:r>
              <a:rPr lang="en" sz="2400"/>
              <a:t>Αυτόνομων</a:t>
            </a:r>
            <a:r>
              <a:rPr lang="en" sz="2400"/>
              <a:t> Πρακτόρων Νικολάου Σοπιάδη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Σκοπός του project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Δημιουργία ενός πλήρες συστήματος σκακιού με όλους τους κανόνες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Δημιουργία framework για γρήγορη εκπαίδευση μοντέλου LSPI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Εκπαίδευση πράκτορα μέσω δεδομένων από πραγματικά παιχνίδια (Lichess open database) + συνθετικών δεδομένων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Human vs AI ή AI vs AI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100" y="706300"/>
            <a:ext cx="4549201" cy="373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 Core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 board representation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Legal move generation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FEN support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Check / checkmate / draw detection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Zobrist hashing and repetition tracking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Make move / Undo move support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844276"/>
            <a:ext cx="4520702" cy="362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LSPI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Ο πράκτορας αξιολογεί afterstates (</a:t>
            </a:r>
            <a:r>
              <a:rPr lang="en"/>
              <a:t>καταστάσεις</a:t>
            </a:r>
            <a:r>
              <a:rPr lang="en"/>
              <a:t> μετά την κίνησή του)</a:t>
            </a:r>
            <a:endParaRPr/>
          </a:p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Κάθε νόμιμη κίνηση παίζεται προσωρινά και μετά αναιρείται</a:t>
            </a:r>
            <a:endParaRPr/>
          </a:p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Εξάγονται features (</a:t>
            </a:r>
            <a:r>
              <a:rPr lang="en"/>
              <a:t>χαρακτηριστικά</a:t>
            </a:r>
            <a:r>
              <a:rPr lang="en"/>
              <a:t>) από το ταμπλό που προκύπτει</a:t>
            </a:r>
            <a:endParaRPr/>
          </a:p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Το LSPI μαθαίνει γραμμικά βάρη για την ποιότητα της κάθε θέσης</a:t>
            </a:r>
            <a:endParaRPr/>
          </a:p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Επιλέγεται η κίνηση με την καλύτερη αξιολόγηση</a:t>
            </a:r>
            <a:endParaRPr/>
          </a:p>
          <a:p>
            <a:pPr indent="-31083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Πολυπύρηνη υλοποίηση με αξιοποίηση cache για γρήγορη εκπαίδευση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725262"/>
            <a:ext cx="4561298" cy="369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Εκπαίδευση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Χρήση πραγματικών παιχνιδιών από δυνατούς παίκτες (2000+ lichess elo)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Δημιουργία dataset από πραγματικά παιχνίδια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Συνθετικά δεδομένα για εκμάθηση αξίας κομματιών (material anchor samples)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Εκπαίδευση LSPI και αποθήκευση checkpoint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Δοκιμή πολλών εκδόσεων features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740775"/>
            <a:ext cx="4527600" cy="366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evaluation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</a:t>
            </a:r>
            <a:r>
              <a:rPr lang="en"/>
              <a:t>1–v4: βασικά material, mobility, checkmate, draw features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v5: features ελέγχου κέντρου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v6: attack-map features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v7–v9: tactical features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v10: γρήγορο </a:t>
            </a:r>
            <a:r>
              <a:rPr lang="en"/>
              <a:t>απλοποιημένο</a:t>
            </a:r>
            <a:r>
              <a:rPr lang="en"/>
              <a:t> τελικό μοντέλο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Μεγαλύτερη βελτίωση: πρώτα αναζήτηση και μετά αξιοποίηση κάθε θέσης με LSPI εκτιμήτρια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738088"/>
            <a:ext cx="4527602" cy="3667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Αποτελέσματα</a:t>
            </a:r>
            <a:endParaRPr/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952500" y="117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{0B71ACD9-5C65-4592-8736-3A19E1E3ECE1}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Transition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Newer model result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Score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Avg. plies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Interpretation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v1 –&gt; v2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12W–142D–6L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51.90%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37.4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Very small improvement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v3.2 Search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98W–59D–3L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79.70%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46.7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Major jump: search added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v3.2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v4.2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60W–60D–40L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56.30%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61.3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Clear improvement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v4.2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v5.2 Center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46W–55D–59L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45.90%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65.8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Center features did not help here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v5.2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v6.2 Attackmap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55W–64D–41L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54.40%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70.2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Moderate improvement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v6.2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v7.2 API Tactics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63W–64D–33L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59.40%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74.2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Strong tactical improvement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v7.2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v8.2 Clean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40W–58D–62L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43.10%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Simplification weakened model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v8.2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v9.2 Response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72W–59D–29L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63.40%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70.5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Strongest feature improvement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v9.2 </a:t>
                      </a:r>
                      <a:r>
                        <a:rPr lang="en" sz="1000"/>
                        <a:t>–&gt;</a:t>
                      </a:r>
                      <a:r>
                        <a:rPr lang="en" sz="1000"/>
                        <a:t> v10.2 Fast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50W–48D–62L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46.30%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Faster, slightly weaker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Ευχαριστώ</a:t>
            </a:r>
            <a:endParaRPr sz="3000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https://github.com/NikolaosSopiadis/Chess_LSPI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pic>
        <p:nvPicPr>
          <p:cNvPr descr="https://github.com/NikolaosSopiadis/Chess_LSPI" id="134" name="Google Shape;134;p20" title="LSPI Chess Agent Dem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7775" y="890926"/>
            <a:ext cx="5976225" cy="33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